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Urbanist Medium" panose="020B0604020202020204" charset="0"/>
      <p:regular r:id="rId20"/>
      <p:bold r:id="rId21"/>
      <p:italic r:id="rId22"/>
      <p:boldItalic r:id="rId23"/>
    </p:embeddedFont>
    <p:embeddedFont>
      <p:font typeface="Urbanis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EA290A-E941-450B-A0CA-9D1A5E470D71}">
  <a:tblStyle styleId="{40EA290A-E941-450B-A0CA-9D1A5E470D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154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345977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Medication Experience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812702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Efficacy vs. </a:t>
            </a:r>
            <a:r>
              <a:rPr lang="en-US" sz="4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Tolerability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73673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Comparative Cluster Study Using NLP and K-Means Clustering on 4,143 Patient Profiles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397573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Prepared by: Tarek Dib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5569"/>
            <a:ext cx="349240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75569"/>
            <a:ext cx="3492549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75569"/>
            <a:ext cx="349240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55656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3394769"/>
            <a:ext cx="121015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051994"/>
            <a:ext cx="27304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Decoding patient "profiles" through 4,143 data points to identify the latent trade-offs between drug success and physiological burden.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650" y="255656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730650" y="3394769"/>
            <a:ext cx="151018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Findings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30650" y="4051994"/>
            <a:ext cx="273054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89.6% of patients find an "Optimal Balance," while a distinct 10.4% achieve peak efficacy but experience high side-effect sensitivity.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8950" y="2556569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508950" y="3394769"/>
            <a:ext cx="174021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Core Concept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08950" y="4051994"/>
            <a:ext cx="27304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higher therapeutic "signal" (efficacy) frequently correlates with intensified physiological side effects across diverse clusters.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Executive Summary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8033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244703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Bridging the Data Gap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96138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Drug reviews contain a wealth of unstructured clinical insights that traditional metrics often miss.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8985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57250" y="368528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Effectiveness and side effects vary drastically by individual.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7250" y="435203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Unstructured text data provides the nuance required for personalized care.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250" y="5018782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Natural Language Processing (NLP)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enables the extraction of actionable patterns from thousands of voices.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368528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435203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501878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Power of Patient Feedback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8444"/>
            <a:ext cx="349240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18444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18444"/>
            <a:ext cx="349240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69944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52500" y="3537644"/>
            <a:ext cx="16602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Vectorization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52500" y="4194869"/>
            <a:ext cx="2730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A language 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model to filter out common words and focus on the most descriptive symptoms reported by </a:t>
            </a:r>
            <a:r>
              <a:rPr lang="en-US" sz="1500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patients.</a:t>
            </a:r>
            <a:endParaRPr sz="1500" dirty="0">
              <a:solidFill>
                <a:srgbClr val="CBD5E1"/>
              </a:solidFill>
              <a:latin typeface="Urbanist"/>
              <a:ea typeface="Urbanist"/>
              <a:cs typeface="Urbanist"/>
            </a:endParaRPr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650" y="269944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4730650" y="3537644"/>
            <a:ext cx="12401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Reduction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730650" y="4194869"/>
            <a:ext cx="273054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S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tatistical 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grouping to simplify thousands of unique patient comments into clear experience profiles.</a:t>
            </a:r>
            <a:endParaRPr sz="1500" dirty="0">
              <a:solidFill>
                <a:srgbClr val="CBD5E1"/>
              </a:solidFill>
              <a:latin typeface="Urbanist"/>
              <a:ea typeface="Urbanist"/>
              <a:cs typeface="Urbanist"/>
            </a:endParaRPr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8950" y="269944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508950" y="3537644"/>
            <a:ext cx="127015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Clustering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08950" y="4194869"/>
            <a:ext cx="2730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An 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AI clustering algorithm to automatically group patients with similar medication experiences.</a:t>
            </a:r>
            <a:endParaRPr sz="1500" dirty="0">
              <a:solidFill>
                <a:srgbClr val="CBD5E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Technical Methodology Pipeline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71500" y="2408932"/>
            <a:ext cx="52387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0.12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355193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Silhouette Score: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While technically modest, it reflects the real-world complexity and overlap of patient drug experiences.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427583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 tested: 2 through 5.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57250" y="465683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k=2 chosen for maximum clinical relevance.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57250" y="503783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Focus on binary profile separation: Dermatological vs. Systemic.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427583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465683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503783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Optimizing for Interpretability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779" y="1862574"/>
            <a:ext cx="5303531" cy="3950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3902" y="5812790"/>
            <a:ext cx="30809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73081" y="5812790"/>
            <a:ext cx="544743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</a:rPr>
              <a:t>The absence of a clear elbow indicates gradual structure in the data, requiring complementary metrics (e.g., silhouette score) and interpretability to select 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5524500" y="2638425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2680573" y="2962275"/>
            <a:ext cx="683085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Cluster Profiling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2843212" y="4067175"/>
            <a:ext cx="6505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Segmenting 4,143 patient experiences into actionable archetypes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09625" y="1141362"/>
            <a:ext cx="495061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Resilient Responders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1141362"/>
            <a:ext cx="57150" cy="1104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2893962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Cluster 1: Dermatological Focus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355118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10.4% segment achieves the highest raw therapeutic efficacy but experiences localized sensitivity.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57250" y="4370337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Primary Concerns: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Skin irritation, dryness, peeling, and redness.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57250" y="5037087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Behavioral Insight: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Patients prioritize results over topical discomfort.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57250" y="5703837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Opportunity: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Targeted adherence support via skin-care guidance.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43703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50370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57038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243" y="2893962"/>
            <a:ext cx="6214578" cy="35511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6905625" y="1204019"/>
            <a:ext cx="49506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Optimal Balance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6667500" y="1204019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667500" y="2404169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Cluster 2: Systemic Profile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667500" y="3061394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vast majority (89.6%) find a sustainable middle ground between drug benefits and whole-body reactions.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953250" y="3880544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Primary Concerns: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Nausea, headache, fatigue, and weight changes.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953250" y="4547294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Behavioral Insight: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Represents the standard patient experience for most medications.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953250" y="5214044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Opportunity: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Dosage titration and risk management for whole-body symptoms.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667500" y="3880544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667500" y="4547294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67500" y="5214044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75" y="2595074"/>
            <a:ext cx="6102375" cy="34870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840582" y="174235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Comparative Analysis: Effectiveness vs. Side Effects</a:t>
            </a:r>
            <a:endParaRPr dirty="0"/>
          </a:p>
        </p:txBody>
      </p:sp>
      <p:sp>
        <p:nvSpPr>
          <p:cNvPr id="209" name="Google Shape;209;p21"/>
          <p:cNvSpPr/>
          <p:nvPr/>
        </p:nvSpPr>
        <p:spPr>
          <a:xfrm>
            <a:off x="585355" y="17423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383" y="900920"/>
            <a:ext cx="7098073" cy="31426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3879" y="4205906"/>
            <a:ext cx="118556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sz="1600" b="1" dirty="0" smtClean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The Trend:</a:t>
            </a:r>
            <a:r>
              <a:rPr lang="en-US" sz="1600" dirty="0" smtClean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Data </a:t>
            </a:r>
            <a:r>
              <a:rPr lang="en-US" sz="1600" dirty="0">
                <a:solidFill>
                  <a:schemeClr val="bg1"/>
                </a:solidFill>
              </a:rPr>
              <a:t>shows a direct relationship where increased drug effectiveness scores are often accompanied by a higher volume of reported side effects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sz="1600" b="1" dirty="0" smtClean="0">
                <a:solidFill>
                  <a:schemeClr val="bg1"/>
                </a:solidFill>
              </a:rPr>
              <a:t>Cluster </a:t>
            </a:r>
            <a:r>
              <a:rPr lang="en-US" sz="1600" b="1" dirty="0">
                <a:solidFill>
                  <a:schemeClr val="bg1"/>
                </a:solidFill>
              </a:rPr>
              <a:t>1:</a:t>
            </a:r>
            <a:r>
              <a:rPr lang="en-US" sz="1600" dirty="0">
                <a:solidFill>
                  <a:schemeClr val="bg1"/>
                </a:solidFill>
              </a:rPr>
              <a:t> Average Rating </a:t>
            </a:r>
            <a:r>
              <a:rPr lang="en-US" sz="1600" b="1" dirty="0">
                <a:solidFill>
                  <a:schemeClr val="bg1"/>
                </a:solidFill>
              </a:rPr>
              <a:t>7.1</a:t>
            </a:r>
            <a:r>
              <a:rPr lang="en-US" sz="1600" dirty="0">
                <a:solidFill>
                  <a:schemeClr val="bg1"/>
                </a:solidFill>
              </a:rPr>
              <a:t> | Side-effect profile: </a:t>
            </a:r>
            <a:r>
              <a:rPr lang="en-US" sz="1600" b="1" dirty="0">
                <a:solidFill>
                  <a:schemeClr val="bg1"/>
                </a:solidFill>
              </a:rPr>
              <a:t>Intense/Localized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600" dirty="0" smtClean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sz="1600" b="1" dirty="0">
                <a:solidFill>
                  <a:schemeClr val="bg1"/>
                </a:solidFill>
              </a:rPr>
              <a:t>Cluster 2:</a:t>
            </a:r>
            <a:r>
              <a:rPr lang="en-US" sz="1600" dirty="0">
                <a:solidFill>
                  <a:schemeClr val="bg1"/>
                </a:solidFill>
              </a:rPr>
              <a:t> Average Rating </a:t>
            </a:r>
            <a:r>
              <a:rPr lang="en-US" sz="1600" b="1" dirty="0">
                <a:solidFill>
                  <a:schemeClr val="bg1"/>
                </a:solidFill>
              </a:rPr>
              <a:t>6.9</a:t>
            </a:r>
            <a:r>
              <a:rPr lang="en-US" sz="1600" dirty="0">
                <a:solidFill>
                  <a:schemeClr val="bg1"/>
                </a:solidFill>
              </a:rPr>
              <a:t> | Side-effect profile: </a:t>
            </a:r>
            <a:r>
              <a:rPr lang="en-US" sz="1600" b="1" dirty="0" smtClean="0">
                <a:solidFill>
                  <a:schemeClr val="bg1"/>
                </a:solidFill>
              </a:rPr>
              <a:t>Manageable/Systemic</a:t>
            </a: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r>
              <a:rPr lang="en-US" sz="1600" dirty="0" smtClean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sz="1600" b="1" dirty="0">
                <a:solidFill>
                  <a:schemeClr val="bg1"/>
                </a:solidFill>
                <a:sym typeface="Urbanist"/>
              </a:rPr>
              <a:t>Core Insight: </a:t>
            </a:r>
            <a:r>
              <a:rPr lang="en-US" sz="1600" dirty="0" smtClean="0">
                <a:solidFill>
                  <a:schemeClr val="bg1"/>
                </a:solidFill>
              </a:rPr>
              <a:t>For </a:t>
            </a:r>
            <a:r>
              <a:rPr lang="en-US" sz="1600" dirty="0">
                <a:solidFill>
                  <a:schemeClr val="bg1"/>
                </a:solidFill>
              </a:rPr>
              <a:t>the patients who find the drug most effective in Cluster 2, over 75% of them (33% out of the 43%) are having a very positive experience with little to no physical "</a:t>
            </a:r>
            <a:r>
              <a:rPr lang="en-US" sz="1600" dirty="0" smtClean="0">
                <a:solidFill>
                  <a:schemeClr val="bg1"/>
                </a:solidFill>
              </a:rPr>
              <a:t>cost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20311" y="3275112"/>
            <a:ext cx="3513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8443"/>
            <a:ext cx="349240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18444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18444"/>
            <a:ext cx="349240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699444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952500" y="3537644"/>
            <a:ext cx="24603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Improve Adherence</a:t>
            </a:r>
            <a:endParaRPr dirty="0"/>
          </a:p>
        </p:txBody>
      </p:sp>
      <p:sp>
        <p:nvSpPr>
          <p:cNvPr id="220" name="Google Shape;220;p22"/>
          <p:cNvSpPr txBox="1"/>
          <p:nvPr/>
        </p:nvSpPr>
        <p:spPr>
          <a:xfrm>
            <a:off x="952500" y="4194869"/>
            <a:ext cx="2730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Provide patients in Cluster 1 with specific co-treatments (e.g., moisturizers) to mitigate skin-level irritation.</a:t>
            </a:r>
            <a:endParaRPr dirty="0"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650" y="269944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4730650" y="3537644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Monitor Dosage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4730650" y="4194869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Proactive titration for Cluster 2 patients to manage systemic fatigue and gastrointestinal issues early.</a:t>
            </a:r>
            <a:endParaRPr dirty="0"/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8950" y="269944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8508950" y="3537644"/>
            <a:ext cx="221027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Targeted Comms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508950" y="4194869"/>
            <a:ext cx="2730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Segmented marketing and clinical communication strategies based on these data-driven patient archetypes.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Business Implications</a:t>
            </a:r>
            <a:endParaRPr dirty="0"/>
          </a:p>
        </p:txBody>
      </p:sp>
      <p:sp>
        <p:nvSpPr>
          <p:cNvPr id="228" name="Google Shape;228;p22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571500" y="271373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Conclusion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322808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NLP transforms unstructured patient feedback into a powerful tool for pharmaceutical precision.</a:t>
            </a:r>
            <a:endParaRPr/>
          </a:p>
        </p:txBody>
      </p:sp>
      <p:graphicFrame>
        <p:nvGraphicFramePr>
          <p:cNvPr id="236" name="Google Shape;236;p23"/>
          <p:cNvGraphicFramePr/>
          <p:nvPr>
            <p:extLst>
              <p:ext uri="{D42A27DB-BD31-4B8C-83A1-F6EECF244321}">
                <p14:modId xmlns:p14="http://schemas.microsoft.com/office/powerpoint/2010/main" val="2161268877"/>
              </p:ext>
            </p:extLst>
          </p:nvPr>
        </p:nvGraphicFramePr>
        <p:xfrm>
          <a:off x="6381750" y="2637532"/>
          <a:ext cx="5238750" cy="30575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6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 dirty="0">
                          <a:sym typeface="Urbanist"/>
                        </a:rPr>
                        <a:t>Outcome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Urbanist"/>
                        </a:rPr>
                        <a:t>Total Population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Urbanist"/>
                        </a:rPr>
                        <a:t>4,143 Reviews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Urbanist"/>
                        </a:rPr>
                        <a:t>Dominant Segment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Urbanist"/>
                        </a:rPr>
                        <a:t>Optimal Balance (89.6%)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Urbanist"/>
                        </a:rPr>
                        <a:t>NLP Framework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Urbanist"/>
                        </a:rPr>
                        <a:t>TF-IDF + K-Means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Urbanist"/>
                        </a:rPr>
                        <a:t>Primary Impact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Urbanist"/>
                        </a:rPr>
                        <a:t>Adherence Improvement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7" name="Google Shape;237;p23"/>
          <p:cNvSpPr txBox="1"/>
          <p:nvPr/>
        </p:nvSpPr>
        <p:spPr>
          <a:xfrm>
            <a:off x="857250" y="395198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Identified two clear </a:t>
            </a:r>
            <a:r>
              <a:rPr lang="en-US" sz="1500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clusters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of medication experience.</a:t>
            </a:r>
            <a:endParaRPr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857250" y="433298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Validated the efficacy-tolerability trade-off in real-world data.</a:t>
            </a:r>
            <a:endParaRPr dirty="0"/>
          </a:p>
        </p:txBody>
      </p:sp>
      <p:sp>
        <p:nvSpPr>
          <p:cNvPr id="239" name="Google Shape;239;p23"/>
          <p:cNvSpPr txBox="1"/>
          <p:nvPr/>
        </p:nvSpPr>
        <p:spPr>
          <a:xfrm>
            <a:off x="857250" y="499973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Established a framework for targeted patient risk management.</a:t>
            </a:r>
            <a:endParaRPr dirty="0"/>
          </a:p>
        </p:txBody>
      </p:sp>
      <p:sp>
        <p:nvSpPr>
          <p:cNvPr id="240" name="Google Shape;240;p23"/>
          <p:cNvSpPr/>
          <p:nvPr/>
        </p:nvSpPr>
        <p:spPr>
          <a:xfrm>
            <a:off x="6381750" y="3266182"/>
            <a:ext cx="236458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8746331" y="3266182"/>
            <a:ext cx="287416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571500" y="395198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433298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499973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245" name="Google Shape;245;p23"/>
          <p:cNvSpPr/>
          <p:nvPr/>
        </p:nvSpPr>
        <p:spPr>
          <a:xfrm>
            <a:off x="6381750" y="3880544"/>
            <a:ext cx="23645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8746331" y="3880544"/>
            <a:ext cx="287416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6381750" y="4480619"/>
            <a:ext cx="23645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8746331" y="4480619"/>
            <a:ext cx="287416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381750" y="5080694"/>
            <a:ext cx="23645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8746331" y="5080694"/>
            <a:ext cx="287416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381750" y="5680769"/>
            <a:ext cx="23645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8746331" y="5680769"/>
            <a:ext cx="287416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Path to Precision Medicine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85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295275" y="207823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571500" y="337363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Medication Experience Analysis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71500" y="440233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Tarek Dib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571500" y="503098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Leveraging NLP for Deep Patient Insights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85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295275" y="277143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smtClean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Appendix</a:t>
            </a:r>
            <a:endParaRPr sz="1000" dirty="0"/>
          </a:p>
        </p:txBody>
      </p:sp>
      <p:sp>
        <p:nvSpPr>
          <p:cNvPr id="263" name="Google Shape;263;p24"/>
          <p:cNvSpPr txBox="1"/>
          <p:nvPr/>
        </p:nvSpPr>
        <p:spPr>
          <a:xfrm>
            <a:off x="295275" y="1167681"/>
            <a:ext cx="1160145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bg1"/>
              </a:buClr>
              <a:buAutoNum type="arabicPeriod"/>
            </a:pPr>
            <a:r>
              <a:rPr lang="en-US" sz="1600" b="1" dirty="0" smtClean="0">
                <a:solidFill>
                  <a:schemeClr val="bg1"/>
                </a:solidFill>
              </a:rPr>
              <a:t>Term Frequency – Inverse Document Frequency (TF-IDF):</a:t>
            </a:r>
            <a:r>
              <a:rPr lang="en-US" sz="1600" dirty="0" smtClean="0">
                <a:solidFill>
                  <a:schemeClr val="bg1"/>
                </a:solidFill>
              </a:rPr>
              <a:t> It helps </a:t>
            </a:r>
            <a:r>
              <a:rPr lang="en-US" sz="1600" dirty="0">
                <a:solidFill>
                  <a:schemeClr val="bg1"/>
                </a:solidFill>
              </a:rPr>
              <a:t>identify the words that truly define each document, not just the words that appear </a:t>
            </a:r>
            <a:r>
              <a:rPr lang="en-US" sz="1600" dirty="0" smtClean="0">
                <a:solidFill>
                  <a:schemeClr val="bg1"/>
                </a:solidFill>
              </a:rPr>
              <a:t>frequently. It is TF x IDF, where:</a:t>
            </a:r>
          </a:p>
          <a:p>
            <a:pPr lvl="0" algn="ctr">
              <a:lnSpc>
                <a:spcPct val="150000"/>
              </a:lnSpc>
              <a:buClr>
                <a:schemeClr val="bg1"/>
              </a:buClr>
            </a:pPr>
            <a:r>
              <a:rPr lang="en-US" sz="1600" dirty="0" smtClean="0">
                <a:solidFill>
                  <a:schemeClr val="bg1"/>
                </a:solidFill>
              </a:rPr>
              <a:t>TF = (count of word in document) / (total words in document) </a:t>
            </a:r>
          </a:p>
          <a:p>
            <a:pPr lvl="0" algn="ctr">
              <a:lnSpc>
                <a:spcPct val="150000"/>
              </a:lnSpc>
              <a:buClr>
                <a:schemeClr val="bg1"/>
              </a:buClr>
            </a:pPr>
            <a:r>
              <a:rPr lang="en-US" sz="1600" dirty="0" smtClean="0">
                <a:solidFill>
                  <a:schemeClr val="bg1"/>
                </a:solidFill>
              </a:rPr>
              <a:t>IDF = log(total documents / number of documents containing the word)</a:t>
            </a:r>
            <a:endParaRPr lang="en-US" sz="1600" b="1" dirty="0" smtClean="0">
              <a:solidFill>
                <a:schemeClr val="bg1"/>
              </a:solidFill>
            </a:endParaRPr>
          </a:p>
          <a:p>
            <a:pPr lvl="0">
              <a:lnSpc>
                <a:spcPct val="150000"/>
              </a:lnSpc>
              <a:buClr>
                <a:schemeClr val="bg1"/>
              </a:buClr>
            </a:pPr>
            <a:endParaRPr lang="en-US" sz="1600" b="1" dirty="0" smtClean="0">
              <a:solidFill>
                <a:schemeClr val="bg1"/>
              </a:solidFill>
            </a:endParaRPr>
          </a:p>
          <a:p>
            <a:pPr lvl="0">
              <a:lnSpc>
                <a:spcPct val="150000"/>
              </a:lnSpc>
              <a:buClr>
                <a:schemeClr val="bg1"/>
              </a:buClr>
            </a:pPr>
            <a:r>
              <a:rPr lang="en-US" sz="1600" b="1" dirty="0" smtClean="0">
                <a:solidFill>
                  <a:schemeClr val="bg1"/>
                </a:solidFill>
              </a:rPr>
              <a:t>2. K-Means: </a:t>
            </a:r>
            <a:r>
              <a:rPr lang="en-US" sz="1600" dirty="0">
                <a:solidFill>
                  <a:schemeClr val="bg1"/>
                </a:solidFill>
              </a:rPr>
              <a:t>A</a:t>
            </a:r>
            <a:r>
              <a:rPr lang="en-US" sz="1600" dirty="0" smtClean="0">
                <a:solidFill>
                  <a:schemeClr val="bg1"/>
                </a:solidFill>
              </a:rPr>
              <a:t>n unsupervised machine learning algorithm. It shows how the </a:t>
            </a:r>
            <a:r>
              <a:rPr lang="en-US" sz="1600" dirty="0">
                <a:solidFill>
                  <a:schemeClr val="bg1"/>
                </a:solidFill>
              </a:rPr>
              <a:t>algorithm </a:t>
            </a:r>
            <a:r>
              <a:rPr lang="en-US" sz="1600" dirty="0" smtClean="0">
                <a:solidFill>
                  <a:schemeClr val="bg1"/>
                </a:solidFill>
              </a:rPr>
              <a:t>drew a line</a:t>
            </a:r>
          </a:p>
          <a:p>
            <a:pPr lvl="0">
              <a:lnSpc>
                <a:spcPct val="150000"/>
              </a:lnSpc>
              <a:buClr>
                <a:schemeClr val="bg1"/>
              </a:buClr>
            </a:pPr>
            <a:r>
              <a:rPr lang="en-US" sz="1600" dirty="0" smtClean="0">
                <a:solidFill>
                  <a:schemeClr val="bg1"/>
                </a:solidFill>
              </a:rPr>
              <a:t>between the “Optimal Balance” and “Resilient Responder” groups.</a:t>
            </a:r>
            <a:endParaRPr lang="en-US" sz="16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en-US" sz="16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en-US" sz="1600" b="1" dirty="0" smtClean="0">
                <a:solidFill>
                  <a:schemeClr val="bg1"/>
                </a:solidFill>
              </a:rPr>
              <a:t>3. Truncated SVD: </a:t>
            </a:r>
            <a:r>
              <a:rPr lang="en-US" sz="1600" dirty="0" smtClean="0">
                <a:solidFill>
                  <a:schemeClr val="bg1"/>
                </a:solidFill>
              </a:rPr>
              <a:t>This </a:t>
            </a:r>
            <a:r>
              <a:rPr lang="en-US" sz="1600" dirty="0">
                <a:solidFill>
                  <a:schemeClr val="bg1"/>
                </a:solidFill>
              </a:rPr>
              <a:t>illustrates how you reduced the complexity of the UCI Drug </a:t>
            </a:r>
            <a:r>
              <a:rPr lang="en-US" sz="1600" dirty="0" smtClean="0">
                <a:solidFill>
                  <a:schemeClr val="bg1"/>
                </a:solidFill>
              </a:rPr>
              <a:t>Reviews dataset into 80 interpretable components/features/variables.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endParaRPr lang="en-US" sz="16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en-US" sz="16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en-US" sz="1600" b="1" dirty="0" smtClean="0">
                <a:solidFill>
                  <a:schemeClr val="bg1"/>
                </a:solidFill>
              </a:rPr>
              <a:t>4. Silhouette Score: </a:t>
            </a:r>
            <a:r>
              <a:rPr lang="en-US" sz="1600" dirty="0" smtClean="0">
                <a:solidFill>
                  <a:schemeClr val="bg1"/>
                </a:solidFill>
              </a:rPr>
              <a:t>A quality metric that measures how similar each point is to its own cluster compared to other clusters.</a:t>
            </a:r>
            <a:endParaRPr lang="en-US" sz="16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en-US" sz="16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en-US" sz="1600" b="1" dirty="0" smtClean="0">
                <a:solidFill>
                  <a:schemeClr val="bg1"/>
                </a:solidFill>
              </a:rPr>
              <a:t>5. Inertia: </a:t>
            </a:r>
            <a:r>
              <a:rPr lang="en-US" sz="1600" dirty="0" smtClean="0">
                <a:solidFill>
                  <a:schemeClr val="bg1"/>
                </a:solidFill>
              </a:rPr>
              <a:t>It measures how tightly data points are grouped within clusters.</a:t>
            </a:r>
            <a:endParaRPr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82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821</Words>
  <Application>Microsoft Office PowerPoint</Application>
  <PresentationFormat>Widescreen</PresentationFormat>
  <Paragraphs>110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Urbanist Medium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Tarek</dc:creator>
  <cp:lastModifiedBy>Maher Fattouh</cp:lastModifiedBy>
  <cp:revision>17</cp:revision>
  <dcterms:modified xsi:type="dcterms:W3CDTF">2026-04-29T08:15:49Z</dcterms:modified>
</cp:coreProperties>
</file>